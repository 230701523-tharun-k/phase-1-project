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sldIdLst>
    <p:sldId id="256" r:id="rId2"/>
    <p:sldId id="257" r:id="rId3"/>
    <p:sldId id="373" r:id="rId4"/>
    <p:sldId id="374" r:id="rId5"/>
    <p:sldId id="372" r:id="rId6"/>
    <p:sldId id="376" r:id="rId7"/>
    <p:sldId id="380" r:id="rId8"/>
    <p:sldId id="381" r:id="rId9"/>
    <p:sldId id="382" r:id="rId10"/>
    <p:sldId id="383" r:id="rId11"/>
    <p:sldId id="385" r:id="rId12"/>
    <p:sldId id="384" r:id="rId13"/>
    <p:sldId id="375" r:id="rId14"/>
    <p:sldId id="3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a:t>Zeroth Review</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Zeroth Review</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B5478A0-E400-6B2F-4B52-61D3A263B2D2}"/>
              </a:ext>
            </a:extLst>
          </p:cNvPr>
          <p:cNvPicPr>
            <a:picLocks noChangeAspect="1"/>
          </p:cNvPicPr>
          <p:nvPr/>
        </p:nvPicPr>
        <p:blipFill>
          <a:blip r:embed="rId4"/>
          <a:stretch>
            <a:fillRect/>
          </a:stretch>
        </p:blipFill>
        <p:spPr>
          <a:xfrm>
            <a:off x="11111491" y="64077"/>
            <a:ext cx="1000125" cy="1143000"/>
          </a:xfrm>
          <a:prstGeom prst="rect">
            <a:avLst/>
          </a:prstGeom>
        </p:spPr>
      </p:pic>
      <p:sp>
        <p:nvSpPr>
          <p:cNvPr id="9" name="Title 1">
            <a:extLst>
              <a:ext uri="{FF2B5EF4-FFF2-40B4-BE49-F238E27FC236}">
                <a16:creationId xmlns:a16="http://schemas.microsoft.com/office/drawing/2014/main" id="{D41A2FBB-F55B-9BAA-4EBD-7D6AD7B1D9C0}"/>
              </a:ext>
            </a:extLst>
          </p:cNvPr>
          <p:cNvSpPr txBox="1">
            <a:spLocks/>
          </p:cNvSpPr>
          <p:nvPr/>
        </p:nvSpPr>
        <p:spPr>
          <a:xfrm>
            <a:off x="789712" y="2530618"/>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000" dirty="0"/>
              <a:t> </a:t>
            </a:r>
          </a:p>
          <a:p>
            <a:r>
              <a:rPr lang="en-IN" sz="2000" b="1" dirty="0" err="1"/>
              <a:t>CottonCare</a:t>
            </a:r>
            <a:r>
              <a:rPr lang="en-IN" sz="2000" b="1" dirty="0"/>
              <a:t> AI: Smart Cotton Crop Disease Detection and Farmer Advisory System</a:t>
            </a:r>
            <a:endParaRPr lang="en-IN" sz="1400" b="1" dirty="0">
              <a:solidFill>
                <a:srgbClr val="7030A0"/>
              </a:solidFill>
              <a:latin typeface="Verdana" panose="020B0604030504040204" pitchFamily="34" charset="0"/>
              <a:ea typeface="+mn-ea"/>
              <a:cs typeface="+mn-cs"/>
            </a:endParaRPr>
          </a:p>
        </p:txBody>
      </p:sp>
      <p:sp>
        <p:nvSpPr>
          <p:cNvPr id="10" name="TextBox 1">
            <a:extLst>
              <a:ext uri="{FF2B5EF4-FFF2-40B4-BE49-F238E27FC236}">
                <a16:creationId xmlns:a16="http://schemas.microsoft.com/office/drawing/2014/main" id="{2D19DAE3-8F95-230C-D485-225341D07DA1}"/>
              </a:ext>
            </a:extLst>
          </p:cNvPr>
          <p:cNvSpPr txBox="1">
            <a:spLocks noChangeArrowheads="1"/>
          </p:cNvSpPr>
          <p:nvPr/>
        </p:nvSpPr>
        <p:spPr bwMode="auto">
          <a:xfrm>
            <a:off x="962889" y="5183901"/>
            <a:ext cx="35052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1400" b="1" dirty="0" err="1">
                <a:latin typeface="Times New Roman" panose="02020603050405020304" pitchFamily="18" charset="0"/>
                <a:cs typeface="Times New Roman" panose="02020603050405020304" pitchFamily="18" charset="0"/>
              </a:rPr>
              <a:t>MR.Dr.B.L.BalaKumar</a:t>
            </a:r>
            <a:endParaRPr lang="en-IN" altLang="en-US" sz="1400" b="1" dirty="0">
              <a:latin typeface="Times New Roman" panose="02020603050405020304" pitchFamily="18" charset="0"/>
              <a:cs typeface="Times New Roman" panose="02020603050405020304" pitchFamily="18" charset="0"/>
            </a:endParaRPr>
          </a:p>
          <a:p>
            <a:pPr>
              <a:spcBef>
                <a:spcPct val="0"/>
              </a:spcBef>
              <a:buClrTx/>
              <a:buFontTx/>
              <a:buNone/>
            </a:pPr>
            <a:r>
              <a:rPr lang="en-IN" altLang="en-US" sz="1400" b="1" dirty="0">
                <a:latin typeface="Times New Roman" panose="02020603050405020304" pitchFamily="18" charset="0"/>
                <a:cs typeface="Times New Roman" panose="02020603050405020304" pitchFamily="18" charset="0"/>
              </a:rPr>
              <a:t>ASSOCIATE PROFESSOR,</a:t>
            </a:r>
          </a:p>
          <a:p>
            <a:pPr>
              <a:spcBef>
                <a:spcPct val="0"/>
              </a:spcBef>
              <a:buClrTx/>
              <a:buFontTx/>
              <a:buNone/>
            </a:pPr>
            <a:r>
              <a:rPr lang="en-IN" altLang="en-US" sz="1400" b="1" dirty="0">
                <a:latin typeface="Times New Roman" panose="02020603050405020304" pitchFamily="18" charset="0"/>
                <a:cs typeface="Times New Roman" panose="02020603050405020304" pitchFamily="18" charset="0"/>
              </a:rPr>
              <a:t>DEPT. OF CSE</a:t>
            </a: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8555326" y="5179722"/>
            <a:ext cx="35052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1400" b="1" dirty="0" err="1">
                <a:latin typeface="Times New Roman" panose="02020603050405020304" pitchFamily="18" charset="0"/>
                <a:cs typeface="Times New Roman" panose="02020603050405020304" pitchFamily="18" charset="0"/>
              </a:rPr>
              <a:t>Tharun.K</a:t>
            </a:r>
            <a:r>
              <a:rPr lang="en-IN" altLang="en-US" sz="1400" b="1" dirty="0">
                <a:latin typeface="Times New Roman" panose="02020603050405020304" pitchFamily="18" charset="0"/>
                <a:cs typeface="Times New Roman" panose="02020603050405020304" pitchFamily="18" charset="0"/>
              </a:rPr>
              <a:t>(230701523)</a:t>
            </a:r>
          </a:p>
          <a:p>
            <a:pPr>
              <a:spcBef>
                <a:spcPct val="0"/>
              </a:spcBef>
              <a:buClrTx/>
              <a:buNone/>
            </a:pPr>
            <a:r>
              <a:rPr lang="en-IN" altLang="en-US" sz="1400" b="1">
                <a:latin typeface="Times New Roman" panose="02020603050405020304" pitchFamily="18" charset="0"/>
                <a:cs typeface="Times New Roman" panose="02020603050405020304" pitchFamily="18" charset="0"/>
              </a:rPr>
              <a:t> Madhan Kumar T </a:t>
            </a:r>
            <a:r>
              <a:rPr lang="en-IN" altLang="en-US" sz="1400" b="1" dirty="0">
                <a:latin typeface="Times New Roman" panose="02020603050405020304" pitchFamily="18" charset="0"/>
                <a:cs typeface="Times New Roman" panose="02020603050405020304" pitchFamily="18" charset="0"/>
              </a:rPr>
              <a:t>(230701518).  </a:t>
            </a:r>
          </a:p>
          <a:p>
            <a:pPr>
              <a:spcBef>
                <a:spcPct val="0"/>
              </a:spcBef>
              <a:buClrTx/>
              <a:buFontTx/>
              <a:buNone/>
            </a:pPr>
            <a:endParaRPr lang="en-IN" altLang="en-US" sz="1400" b="1" dirty="0">
              <a:latin typeface="Times New Roman" panose="02020603050405020304" pitchFamily="18" charset="0"/>
              <a:cs typeface="Times New Roman" panose="02020603050405020304" pitchFamily="18" charset="0"/>
            </a:endParaRP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17518" y="1411545"/>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a:t>
            </a:r>
          </a:p>
        </p:txBody>
      </p:sp>
      <p:pic>
        <p:nvPicPr>
          <p:cNvPr id="8" name="Picture 2" descr="Index of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4077"/>
            <a:ext cx="3756758" cy="1213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INTRODUCTION</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5651" y="1752600"/>
            <a:ext cx="10668000" cy="4354902"/>
          </a:xfrm>
        </p:spPr>
        <p:txBody>
          <a:bodyPr>
            <a:normAutofit fontScale="92500"/>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Verdana"/>
              <a:ea typeface="+mn-ea"/>
              <a:cs typeface="+mn-cs"/>
            </a:endParaRPr>
          </a:p>
          <a:p>
            <a:pPr>
              <a:spcBef>
                <a:spcPct val="0"/>
              </a:spcBef>
              <a:buClrTx/>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Cotton is an important agricultural crop, but its production is significantly affected by various diseases that can reduce crop quality and yield. Farmers, especially those in rural areas, may face difficulties in identifying diseases at an early stage due to limited access to agricultural experts and internet-based tools. Early and accurate disease identification is therefore important for taking timely preventive and corrective actions.</a:t>
            </a:r>
            <a:endParaRPr lang="en-US" altLang="en-US" sz="2400" dirty="0">
              <a:latin typeface="Times New Roman" panose="02020603050405020304" pitchFamily="18" charset="0"/>
              <a:cs typeface="Times New Roman" panose="02020603050405020304" pitchFamily="18" charset="0"/>
            </a:endParaRPr>
          </a:p>
          <a:p>
            <a:pPr marL="0" indent="0">
              <a:spcBef>
                <a:spcPct val="0"/>
              </a:spcBef>
              <a:buClrTx/>
              <a:buNone/>
            </a:pPr>
            <a:endParaRPr lang="en-US" altLang="en-US" sz="2400" dirty="0">
              <a:latin typeface="Times New Roman" panose="02020603050405020304" pitchFamily="18" charset="0"/>
              <a:cs typeface="Times New Roman" panose="02020603050405020304" pitchFamily="18" charset="0"/>
            </a:endParaRPr>
          </a:p>
          <a:p>
            <a:pPr lvl="0">
              <a:spcBef>
                <a:spcPct val="0"/>
              </a:spcBef>
              <a:buClrTx/>
              <a:buFont typeface="Wingdings" panose="05000000000000000000" pitchFamily="2" charset="2"/>
              <a:buChar char="§"/>
            </a:pPr>
            <a:r>
              <a:rPr lang="en-IN" sz="2400" b="1" dirty="0" err="1">
                <a:latin typeface="Times New Roman" panose="02020603050405020304" pitchFamily="18" charset="0"/>
                <a:cs typeface="Times New Roman" panose="02020603050405020304" pitchFamily="18" charset="0"/>
              </a:rPr>
              <a:t>CottonCare</a:t>
            </a:r>
            <a:r>
              <a:rPr lang="en-IN" sz="2400" b="1" dirty="0">
                <a:latin typeface="Times New Roman" panose="02020603050405020304" pitchFamily="18" charset="0"/>
                <a:cs typeface="Times New Roman" panose="02020603050405020304" pitchFamily="18" charset="0"/>
              </a:rPr>
              <a:t> AI</a:t>
            </a:r>
            <a:r>
              <a:rPr lang="en-IN" sz="2400" dirty="0">
                <a:latin typeface="Times New Roman" panose="02020603050405020304" pitchFamily="18" charset="0"/>
                <a:cs typeface="Times New Roman" panose="02020603050405020304" pitchFamily="18" charset="0"/>
              </a:rPr>
              <a:t> is proposed as a smart, farmer-friendly system that uses </a:t>
            </a:r>
            <a:r>
              <a:rPr lang="en-IN" sz="2400" b="1" dirty="0">
                <a:latin typeface="Times New Roman" panose="02020603050405020304" pitchFamily="18" charset="0"/>
                <a:cs typeface="Times New Roman" panose="02020603050405020304" pitchFamily="18" charset="0"/>
              </a:rPr>
              <a:t>image processing and deep learning</a:t>
            </a:r>
            <a:r>
              <a:rPr lang="en-IN" sz="2400" dirty="0">
                <a:latin typeface="Times New Roman" panose="02020603050405020304" pitchFamily="18" charset="0"/>
                <a:cs typeface="Times New Roman" panose="02020603050405020304" pitchFamily="18" charset="0"/>
              </a:rPr>
              <a:t> to identify cotton crop diseases from leaf photographs. The system provides disease information, symptoms, recommended solutions, and preventive measures. </a:t>
            </a:r>
            <a:endParaRPr lang="en-US" alt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Final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a:t>Department of Computer Science and Engineering</a:t>
            </a:r>
            <a:endParaRPr lang="en-IN"/>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2</a:t>
            </a:fld>
            <a:endParaRPr lang="en-IN"/>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PROJECT OVERVIEW &amp; OBJECTIVES/SCOPE</a:t>
            </a:r>
          </a:p>
        </p:txBody>
      </p:sp>
      <p:sp>
        <p:nvSpPr>
          <p:cNvPr id="4" name="Date Placeholder 3"/>
          <p:cNvSpPr>
            <a:spLocks noGrp="1"/>
          </p:cNvSpPr>
          <p:nvPr>
            <p:ph type="dt" sz="half" idx="10"/>
          </p:nvPr>
        </p:nvSpPr>
        <p:spPr/>
        <p:txBody>
          <a:bodyPr/>
          <a:lstStyle/>
          <a:p>
            <a:r>
              <a:rPr lang="en-US" dirty="0"/>
              <a:t>Final Review</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smtClean="0"/>
              <a:pPr>
                <a:defRPr/>
              </a:pPr>
              <a:t>3</a:t>
            </a:fld>
            <a:endParaRPr lang="en-US" altLang="en-US"/>
          </a:p>
        </p:txBody>
      </p:sp>
      <p:sp>
        <p:nvSpPr>
          <p:cNvPr id="7" name="Rectangle 1"/>
          <p:cNvSpPr>
            <a:spLocks noGrp="1" noChangeArrowheads="1"/>
          </p:cNvSpPr>
          <p:nvPr>
            <p:ph idx="1"/>
          </p:nvPr>
        </p:nvSpPr>
        <p:spPr bwMode="auto">
          <a:xfrm>
            <a:off x="960367" y="1742535"/>
            <a:ext cx="10581776" cy="4390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lnSpcReduction="10000"/>
          </a:bodyPr>
          <a:lstStyle/>
          <a:p>
            <a:pPr>
              <a:spcBef>
                <a:spcPct val="0"/>
              </a:spcBef>
              <a:spcAft>
                <a:spcPts val="1200"/>
              </a:spcAft>
              <a:buClrTx/>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OBJECTIVE:</a:t>
            </a:r>
            <a:r>
              <a:rPr lang="en-IN" sz="2400" dirty="0" err="1">
                <a:latin typeface="Times New Roman" panose="02020603050405020304" pitchFamily="18" charset="0"/>
                <a:cs typeface="Times New Roman" panose="02020603050405020304" pitchFamily="18" charset="0"/>
              </a:rPr>
              <a:t>CottonCare</a:t>
            </a:r>
            <a:r>
              <a:rPr lang="en-IN" sz="2400" dirty="0">
                <a:latin typeface="Times New Roman" panose="02020603050405020304" pitchFamily="18" charset="0"/>
                <a:cs typeface="Times New Roman" panose="02020603050405020304" pitchFamily="18" charset="0"/>
              </a:rPr>
              <a:t> AI is a smart agricultural application designed to help cotton farmers identify major crop diseases using photographs of affected leaves. The system aims to provide simple and understandable information about the detected disease, including its symptoms, possible spread, recommended solutions, and preventive measures. The application is designed with an offline-first approach, allowing farmers to access important disease-related information even when internet connectivity is limited.</a:t>
            </a:r>
          </a:p>
          <a:p>
            <a:pPr>
              <a:spcBef>
                <a:spcPct val="0"/>
              </a:spcBef>
              <a:spcAft>
                <a:spcPts val="1200"/>
              </a:spcAft>
              <a:buClrTx/>
              <a:buFont typeface="Wingdings" panose="05000000000000000000" pitchFamily="2" charset="2"/>
              <a:buChar char="§"/>
            </a:pPr>
            <a:r>
              <a:rPr lang="en-IN" sz="2400" b="1" dirty="0" err="1">
                <a:latin typeface="Times New Roman" panose="02020603050405020304" pitchFamily="18" charset="0"/>
                <a:cs typeface="Times New Roman" panose="02020603050405020304" pitchFamily="18" charset="0"/>
              </a:rPr>
              <a:t>SCOPE:</a:t>
            </a:r>
            <a:r>
              <a:rPr lang="en-IN" sz="2400" dirty="0" err="1">
                <a:latin typeface="Times New Roman" panose="02020603050405020304" pitchFamily="18" charset="0"/>
                <a:cs typeface="Times New Roman" panose="02020603050405020304" pitchFamily="18" charset="0"/>
              </a:rPr>
              <a:t>The</a:t>
            </a:r>
            <a:r>
              <a:rPr lang="en-IN" sz="2400" dirty="0">
                <a:latin typeface="Times New Roman" panose="02020603050405020304" pitchFamily="18" charset="0"/>
                <a:cs typeface="Times New Roman" panose="02020603050405020304" pitchFamily="18" charset="0"/>
              </a:rPr>
              <a:t> project focuses specifically on cotton crop disease detection and farmer advisory. It includes collecting and </a:t>
            </a:r>
            <a:r>
              <a:rPr lang="en-IN" sz="2400" dirty="0" err="1">
                <a:latin typeface="Times New Roman" panose="02020603050405020304" pitchFamily="18" charset="0"/>
                <a:cs typeface="Times New Roman" panose="02020603050405020304" pitchFamily="18" charset="0"/>
              </a:rPr>
              <a:t>labeling</a:t>
            </a:r>
            <a:r>
              <a:rPr lang="en-IN" sz="2400" dirty="0">
                <a:latin typeface="Times New Roman" panose="02020603050405020304" pitchFamily="18" charset="0"/>
                <a:cs typeface="Times New Roman" panose="02020603050405020304" pitchFamily="18" charset="0"/>
              </a:rPr>
              <a:t> cotton disease images, training and comparing CNN-based models, selecting the best-performing model, and integrating the model into a mobile application using TensorFlow Lite for offline inference. </a:t>
            </a:r>
          </a:p>
          <a:p>
            <a:pPr>
              <a:spcBef>
                <a:spcPct val="0"/>
              </a:spcBef>
              <a:spcAft>
                <a:spcPts val="1200"/>
              </a:spcAft>
              <a:buClrTx/>
              <a:buFont typeface="Wingdings" panose="05000000000000000000" pitchFamily="2" charset="2"/>
              <a:buChar char="§"/>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866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normAutofit fontScale="92500" lnSpcReduction="20000"/>
          </a:bodyPr>
          <a:lstStyle/>
          <a:p>
            <a:pPr>
              <a:buFont typeface="Wingdings" panose="05000000000000000000" pitchFamily="2" charset="2"/>
              <a:buChar char="§"/>
            </a:pPr>
            <a:r>
              <a:rPr lang="en-IN" sz="2600" dirty="0">
                <a:latin typeface="Times New Roman" panose="02020603050405020304" pitchFamily="18" charset="0"/>
                <a:cs typeface="Times New Roman" panose="02020603050405020304" pitchFamily="18" charset="0"/>
              </a:rPr>
              <a:t>Currently, cotton disease identification is mainly done through manual observation by farmers or agricultural experts. Farmers identify diseases based on visible symptoms such as leaf spots, curling, yellowing, and wilting, which can sometimes lead to incorrect or delayed identification.</a:t>
            </a:r>
            <a:endParaRPr lang="en-US" sz="26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Some existing digital and online applications provide crop disease detection, but many require </a:t>
            </a:r>
            <a:r>
              <a:rPr lang="en-IN" sz="2800" b="1" dirty="0">
                <a:latin typeface="Times New Roman" panose="02020603050405020304" pitchFamily="18" charset="0"/>
                <a:cs typeface="Times New Roman" panose="02020603050405020304" pitchFamily="18" charset="0"/>
              </a:rPr>
              <a:t>internet connectivity</a:t>
            </a:r>
            <a:r>
              <a:rPr lang="en-IN" sz="2800" dirty="0">
                <a:latin typeface="Times New Roman" panose="02020603050405020304" pitchFamily="18" charset="0"/>
                <a:cs typeface="Times New Roman" panose="02020603050405020304" pitchFamily="18" charset="0"/>
              </a:rPr>
              <a:t> and may provide limited information beyond disease identification. They may also lack simple, farmer-friendly recommendations and preventive measures, making it difficult for farmers to take timely action.</a:t>
            </a:r>
            <a:endParaRPr lang="en-US" sz="2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19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19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Final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a:t>Department of Computer Science and Engineering</a:t>
            </a:r>
            <a:endParaRPr lang="en-IN"/>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4</a:t>
            </a:fld>
            <a:endParaRPr lang="en-IN"/>
          </a:p>
        </p:txBody>
      </p:sp>
    </p:spTree>
    <p:extLst>
      <p:ext uri="{BB962C8B-B14F-4D97-AF65-F5344CB8AC3E}">
        <p14:creationId xmlns:p14="http://schemas.microsoft.com/office/powerpoint/2010/main" val="2513003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PROBLEM STATEMENT </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66233" y="1727138"/>
            <a:ext cx="10668000" cy="3733383"/>
          </a:xfrm>
        </p:spPr>
        <p:txBody>
          <a:bodyPr>
            <a:normAutofit/>
          </a:bodyPr>
          <a:lstStyle/>
          <a:p>
            <a:pPr>
              <a:spcBef>
                <a:spcPct val="0"/>
              </a:spcBef>
              <a:buClrTx/>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Cotton farmers often face difficulties in </a:t>
            </a:r>
            <a:r>
              <a:rPr lang="en-IN" sz="2400" b="1" dirty="0">
                <a:latin typeface="Times New Roman" panose="02020603050405020304" pitchFamily="18" charset="0"/>
                <a:cs typeface="Times New Roman" panose="02020603050405020304" pitchFamily="18" charset="0"/>
              </a:rPr>
              <a:t>identifying crop diseases accurately at an early stage</a:t>
            </a:r>
            <a:r>
              <a:rPr lang="en-IN" sz="2400" dirty="0">
                <a:latin typeface="Times New Roman" panose="02020603050405020304" pitchFamily="18" charset="0"/>
                <a:cs typeface="Times New Roman" panose="02020603050405020304" pitchFamily="18" charset="0"/>
              </a:rPr>
              <a:t> due to limited agricultural expertise and access to specialists. Manual identification based on leaf symptoms can be time-consuming and may lead to incorrect decisions, resulting in disease spread and reduced crop yield.</a:t>
            </a:r>
          </a:p>
          <a:p>
            <a:pPr>
              <a:spcBef>
                <a:spcPct val="0"/>
              </a:spcBef>
              <a:buClrTx/>
              <a:buFont typeface="Wingdings" panose="05000000000000000000" pitchFamily="2" charset="2"/>
              <a:buChar char="§"/>
            </a:pPr>
            <a:endParaRPr lang="en-IN" altLang="en-US" sz="2400" dirty="0">
              <a:latin typeface="Times New Roman" panose="02020603050405020304" pitchFamily="18" charset="0"/>
              <a:cs typeface="Times New Roman" panose="02020603050405020304" pitchFamily="18" charset="0"/>
            </a:endParaRPr>
          </a:p>
          <a:p>
            <a:pPr>
              <a:spcBef>
                <a:spcPct val="0"/>
              </a:spcBef>
              <a:buClrTx/>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Therefore, there is a need for a </a:t>
            </a:r>
            <a:r>
              <a:rPr lang="en-IN" sz="2400" b="1" dirty="0">
                <a:latin typeface="Times New Roman" panose="02020603050405020304" pitchFamily="18" charset="0"/>
                <a:cs typeface="Times New Roman" panose="02020603050405020304" pitchFamily="18" charset="0"/>
              </a:rPr>
              <a:t>simple and offline AI-based system</a:t>
            </a:r>
            <a:r>
              <a:rPr lang="en-IN" sz="2400" dirty="0">
                <a:latin typeface="Times New Roman" panose="02020603050405020304" pitchFamily="18" charset="0"/>
                <a:cs typeface="Times New Roman" panose="02020603050405020304" pitchFamily="18" charset="0"/>
              </a:rPr>
              <a:t> that can identify cotton diseases from photographs and provide farmers with understandable information about the disease, recommended solutions, preventive measures, and possible disease progression.</a:t>
            </a:r>
            <a:endParaRPr lang="en-US" alt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err="1"/>
              <a:t>Finalt</a:t>
            </a:r>
            <a:r>
              <a:rPr lang="en-US" dirty="0"/>
              <a:t>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a:t>Department of Computer Science and Engineering</a:t>
            </a:r>
            <a:endParaRPr lang="en-IN"/>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5</a:t>
            </a:fld>
            <a:endParaRPr lang="en-IN"/>
          </a:p>
        </p:txBody>
      </p:sp>
    </p:spTree>
    <p:extLst>
      <p:ext uri="{BB962C8B-B14F-4D97-AF65-F5344CB8AC3E}">
        <p14:creationId xmlns:p14="http://schemas.microsoft.com/office/powerpoint/2010/main" val="285154810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METHODOLOGY &amp; SYSTEM ARCHITECTURE</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00000" y="2200000"/>
            <a:ext cx="10800000" cy="3800000"/>
          </a:xfrm>
        </p:spPr>
        <p:txBody>
          <a:bodyPr anchor="t">
            <a:normAutofit/>
          </a:bodyPr>
          <a:lstStyle/>
          <a:p>
            <a:r>
              <a:rPr lang="en-IN" sz="2400" b="1" dirty="0" err="1">
                <a:latin typeface="Times New Roman" panose="02020603050405020304" pitchFamily="18" charset="0"/>
                <a:cs typeface="Times New Roman" panose="02020603050405020304" pitchFamily="18" charset="0"/>
              </a:rPr>
              <a:t>Methodology:</a:t>
            </a:r>
            <a:r>
              <a:rPr lang="en-IN" sz="2400" dirty="0" err="1">
                <a:latin typeface="Times New Roman" panose="02020603050405020304" pitchFamily="18" charset="0"/>
                <a:cs typeface="Times New Roman" panose="02020603050405020304" pitchFamily="18" charset="0"/>
              </a:rPr>
              <a:t>The</a:t>
            </a:r>
            <a:r>
              <a:rPr lang="en-IN" sz="2400" dirty="0">
                <a:latin typeface="Times New Roman" panose="02020603050405020304" pitchFamily="18" charset="0"/>
                <a:cs typeface="Times New Roman" panose="02020603050405020304" pitchFamily="18" charset="0"/>
              </a:rPr>
              <a:t> proposed </a:t>
            </a:r>
            <a:r>
              <a:rPr lang="en-IN" sz="2400" dirty="0" err="1">
                <a:latin typeface="Times New Roman" panose="02020603050405020304" pitchFamily="18" charset="0"/>
                <a:cs typeface="Times New Roman" panose="02020603050405020304" pitchFamily="18" charset="0"/>
              </a:rPr>
              <a:t>CottonCare</a:t>
            </a:r>
            <a:r>
              <a:rPr lang="en-IN" sz="2400" dirty="0">
                <a:latin typeface="Times New Roman" panose="02020603050405020304" pitchFamily="18" charset="0"/>
                <a:cs typeface="Times New Roman" panose="02020603050405020304" pitchFamily="18" charset="0"/>
              </a:rPr>
              <a:t> AI system follows a systematic approach for detecting and managing cotton crop diseases. First, images of healthy and diseased cotton leaves are collected and </a:t>
            </a:r>
            <a:r>
              <a:rPr lang="en-IN" sz="2400" dirty="0" err="1">
                <a:latin typeface="Times New Roman" panose="02020603050405020304" pitchFamily="18" charset="0"/>
                <a:cs typeface="Times New Roman" panose="02020603050405020304" pitchFamily="18" charset="0"/>
              </a:rPr>
              <a:t>labeled</a:t>
            </a:r>
            <a:r>
              <a:rPr lang="en-IN" sz="2400" dirty="0">
                <a:latin typeface="Times New Roman" panose="02020603050405020304" pitchFamily="18" charset="0"/>
                <a:cs typeface="Times New Roman" panose="02020603050405020304" pitchFamily="18" charset="0"/>
              </a:rPr>
              <a:t> to create a disease dataset. The images are then </a:t>
            </a:r>
            <a:r>
              <a:rPr lang="en-IN" sz="2400" dirty="0" err="1">
                <a:latin typeface="Times New Roman" panose="02020603050405020304" pitchFamily="18" charset="0"/>
                <a:cs typeface="Times New Roman" panose="02020603050405020304" pitchFamily="18" charset="0"/>
              </a:rPr>
              <a:t>preprocessed</a:t>
            </a:r>
            <a:r>
              <a:rPr lang="en-IN" sz="2400" dirty="0">
                <a:latin typeface="Times New Roman" panose="02020603050405020304" pitchFamily="18" charset="0"/>
                <a:cs typeface="Times New Roman" panose="02020603050405020304" pitchFamily="18" charset="0"/>
              </a:rPr>
              <a:t> and used to train multiple CNN-based deep learning models. The models are evaluated based on accuracy and performance, and the best-performing model is selected. Finally, the trained model will be converted into TensorFlow Lite format and integrated into the application for offline disease detection. The system provides the detected disease along with symptoms, recommended solutions, preventive measures, and disease progression information.</a:t>
            </a:r>
          </a:p>
          <a:p>
            <a:pPr marL="285750" indent="-285750">
              <a:spcAft>
                <a:spcPct val="40000"/>
              </a:spcAft>
              <a:buFont typeface="Arial"/>
              <a:buChar char="•"/>
            </a:pPr>
            <a:endParaRPr lang="en-IN" sz="2200" dirty="0">
              <a:latin typeface="Times New Roman"/>
              <a:cs typeface="Times New Roman"/>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Final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a:t>Department of Computer Science and Engineering</a:t>
            </a:r>
            <a:endParaRPr lang="en-IN"/>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6</a:t>
            </a:fld>
            <a:endParaRPr lang="en-IN"/>
          </a:p>
        </p:txBody>
      </p:sp>
    </p:spTree>
    <p:extLst>
      <p:ext uri="{BB962C8B-B14F-4D97-AF65-F5344CB8AC3E}">
        <p14:creationId xmlns:p14="http://schemas.microsoft.com/office/powerpoint/2010/main" val="285154810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SYSTEM ARCHITECTURE (contd.)</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Final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a:t>Department of Computer Science and Engineering</a:t>
            </a:r>
            <a:endParaRPr lang="en-IN"/>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7</a:t>
            </a:fld>
            <a:endParaRPr lang="en-IN"/>
          </a:p>
        </p:txBody>
      </p:sp>
      <p:pic>
        <p:nvPicPr>
          <p:cNvPr id="7" name="Picture 6">
            <a:extLst>
              <a:ext uri="{FF2B5EF4-FFF2-40B4-BE49-F238E27FC236}">
                <a16:creationId xmlns:a16="http://schemas.microsoft.com/office/drawing/2014/main" id="{05C63473-A786-B3AA-4A00-D09127896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361" y="1996441"/>
            <a:ext cx="8327571" cy="3816532"/>
          </a:xfrm>
          <a:prstGeom prst="rect">
            <a:avLst/>
          </a:prstGeom>
        </p:spPr>
      </p:pic>
    </p:spTree>
    <p:extLst>
      <p:ext uri="{BB962C8B-B14F-4D97-AF65-F5344CB8AC3E}">
        <p14:creationId xmlns:p14="http://schemas.microsoft.com/office/powerpoint/2010/main" val="285154810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8E4C6B-4C25-4942-FD80-29EC34BBB854}"/>
              </a:ext>
            </a:extLst>
          </p:cNvPr>
          <p:cNvSpPr>
            <a:spLocks noGrp="1"/>
          </p:cNvSpPr>
          <p:nvPr>
            <p:ph type="dt" sz="half" idx="10"/>
          </p:nvPr>
        </p:nvSpPr>
        <p:spPr/>
        <p:txBody>
          <a:bodyPr/>
          <a:lstStyle/>
          <a:p>
            <a:pPr>
              <a:defRPr/>
            </a:pPr>
            <a:r>
              <a:rPr lang="en-US" dirty="0"/>
              <a:t>Final Review</a:t>
            </a:r>
          </a:p>
        </p:txBody>
      </p:sp>
      <p:sp>
        <p:nvSpPr>
          <p:cNvPr id="3" name="Footer Placeholder 2">
            <a:extLst>
              <a:ext uri="{FF2B5EF4-FFF2-40B4-BE49-F238E27FC236}">
                <a16:creationId xmlns:a16="http://schemas.microsoft.com/office/drawing/2014/main" id="{32A9E35E-C7BF-A7A9-291B-8E0C80E1ECEB}"/>
              </a:ext>
            </a:extLst>
          </p:cNvPr>
          <p:cNvSpPr>
            <a:spLocks noGrp="1"/>
          </p:cNvSpPr>
          <p:nvPr>
            <p:ph type="ftr" sz="quarter" idx="11"/>
          </p:nvPr>
        </p:nvSpPr>
        <p:spPr/>
        <p:txBody>
          <a:bodyPr/>
          <a:lstStyle/>
          <a:p>
            <a:pPr>
              <a:defRPr/>
            </a:pPr>
            <a:r>
              <a:rPr lang="en-US"/>
              <a:t>Department of Computer Science and Engineering</a:t>
            </a:r>
          </a:p>
        </p:txBody>
      </p:sp>
      <p:sp>
        <p:nvSpPr>
          <p:cNvPr id="4" name="Slide Number Placeholder 3">
            <a:extLst>
              <a:ext uri="{FF2B5EF4-FFF2-40B4-BE49-F238E27FC236}">
                <a16:creationId xmlns:a16="http://schemas.microsoft.com/office/drawing/2014/main" id="{CD04D9D6-8CF6-51A7-DF47-7F600DB543E3}"/>
              </a:ext>
            </a:extLst>
          </p:cNvPr>
          <p:cNvSpPr>
            <a:spLocks noGrp="1"/>
          </p:cNvSpPr>
          <p:nvPr>
            <p:ph type="sldNum" sz="quarter" idx="12"/>
          </p:nvPr>
        </p:nvSpPr>
        <p:spPr/>
        <p:txBody>
          <a:bodyPr/>
          <a:lstStyle/>
          <a:p>
            <a:pPr>
              <a:defRPr/>
            </a:pPr>
            <a:fld id="{DD537315-F462-4C74-88B4-A900525A3FAA}" type="slidenum">
              <a:rPr lang="en-US" altLang="en-US" smtClean="0"/>
              <a:pPr>
                <a:defRPr/>
              </a:pPr>
              <a:t>8</a:t>
            </a:fld>
            <a:endParaRPr lang="en-US" altLang="en-US"/>
          </a:p>
        </p:txBody>
      </p:sp>
      <p:sp>
        <p:nvSpPr>
          <p:cNvPr id="13" name="TextBox 12">
            <a:extLst>
              <a:ext uri="{FF2B5EF4-FFF2-40B4-BE49-F238E27FC236}">
                <a16:creationId xmlns:a16="http://schemas.microsoft.com/office/drawing/2014/main" id="{18E884A7-8F3D-D691-F0B6-8D540BAD21DB}"/>
              </a:ext>
            </a:extLst>
          </p:cNvPr>
          <p:cNvSpPr txBox="1"/>
          <p:nvPr/>
        </p:nvSpPr>
        <p:spPr>
          <a:xfrm>
            <a:off x="0" y="534489"/>
            <a:ext cx="3008516" cy="369332"/>
          </a:xfrm>
          <a:prstGeom prst="rect">
            <a:avLst/>
          </a:prstGeom>
          <a:noFill/>
        </p:spPr>
        <p:txBody>
          <a:bodyPr wrap="none" rtlCol="0">
            <a:spAutoFit/>
          </a:bodyPr>
          <a:lstStyle/>
          <a:p>
            <a:r>
              <a:rPr lang="en-US" dirty="0"/>
              <a:t>GLOBAL ADMIN CENTER</a:t>
            </a:r>
            <a:endParaRPr lang="en-IN" dirty="0"/>
          </a:p>
        </p:txBody>
      </p:sp>
      <p:pic>
        <p:nvPicPr>
          <p:cNvPr id="7" name="Picture 6">
            <a:extLst>
              <a:ext uri="{FF2B5EF4-FFF2-40B4-BE49-F238E27FC236}">
                <a16:creationId xmlns:a16="http://schemas.microsoft.com/office/drawing/2014/main" id="{8E18BCAE-1CDD-9807-FA07-DDED61C9D9AF}"/>
              </a:ext>
            </a:extLst>
          </p:cNvPr>
          <p:cNvPicPr>
            <a:picLocks noChangeAspect="1"/>
          </p:cNvPicPr>
          <p:nvPr/>
        </p:nvPicPr>
        <p:blipFill>
          <a:blip r:embed="rId2"/>
          <a:stretch>
            <a:fillRect/>
          </a:stretch>
        </p:blipFill>
        <p:spPr>
          <a:xfrm>
            <a:off x="0" y="534489"/>
            <a:ext cx="12192000" cy="5348281"/>
          </a:xfrm>
          <a:prstGeom prst="rect">
            <a:avLst/>
          </a:prstGeom>
        </p:spPr>
      </p:pic>
    </p:spTree>
    <p:extLst>
      <p:ext uri="{BB962C8B-B14F-4D97-AF65-F5344CB8AC3E}">
        <p14:creationId xmlns:p14="http://schemas.microsoft.com/office/powerpoint/2010/main" val="252314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868EBD-E777-681C-F955-973E4D87FE2D}"/>
              </a:ext>
            </a:extLst>
          </p:cNvPr>
          <p:cNvSpPr>
            <a:spLocks noGrp="1"/>
          </p:cNvSpPr>
          <p:nvPr>
            <p:ph type="dt" sz="half" idx="10"/>
          </p:nvPr>
        </p:nvSpPr>
        <p:spPr/>
        <p:txBody>
          <a:bodyPr/>
          <a:lstStyle/>
          <a:p>
            <a:pPr>
              <a:defRPr/>
            </a:pPr>
            <a:r>
              <a:rPr lang="en-US" dirty="0"/>
              <a:t>Final Review</a:t>
            </a:r>
          </a:p>
        </p:txBody>
      </p:sp>
      <p:sp>
        <p:nvSpPr>
          <p:cNvPr id="3" name="Footer Placeholder 2">
            <a:extLst>
              <a:ext uri="{FF2B5EF4-FFF2-40B4-BE49-F238E27FC236}">
                <a16:creationId xmlns:a16="http://schemas.microsoft.com/office/drawing/2014/main" id="{952FA008-984C-C37D-9A9D-68033D72016B}"/>
              </a:ext>
            </a:extLst>
          </p:cNvPr>
          <p:cNvSpPr>
            <a:spLocks noGrp="1"/>
          </p:cNvSpPr>
          <p:nvPr>
            <p:ph type="ftr" sz="quarter" idx="11"/>
          </p:nvPr>
        </p:nvSpPr>
        <p:spPr/>
        <p:txBody>
          <a:bodyPr/>
          <a:lstStyle/>
          <a:p>
            <a:pPr>
              <a:defRPr/>
            </a:pPr>
            <a:r>
              <a:rPr lang="en-US" dirty="0"/>
              <a:t>Department of Computer Science and Engineering</a:t>
            </a:r>
          </a:p>
        </p:txBody>
      </p:sp>
      <p:sp>
        <p:nvSpPr>
          <p:cNvPr id="4" name="Slide Number Placeholder 3">
            <a:extLst>
              <a:ext uri="{FF2B5EF4-FFF2-40B4-BE49-F238E27FC236}">
                <a16:creationId xmlns:a16="http://schemas.microsoft.com/office/drawing/2014/main" id="{052C3392-6336-603F-535D-806C851BB29D}"/>
              </a:ext>
            </a:extLst>
          </p:cNvPr>
          <p:cNvSpPr>
            <a:spLocks noGrp="1"/>
          </p:cNvSpPr>
          <p:nvPr>
            <p:ph type="sldNum" sz="quarter" idx="12"/>
          </p:nvPr>
        </p:nvSpPr>
        <p:spPr/>
        <p:txBody>
          <a:bodyPr/>
          <a:lstStyle/>
          <a:p>
            <a:pPr>
              <a:defRPr/>
            </a:pPr>
            <a:fld id="{DD537315-F462-4C74-88B4-A900525A3FAA}" type="slidenum">
              <a:rPr lang="en-US" altLang="en-US" smtClean="0"/>
              <a:pPr>
                <a:defRPr/>
              </a:pPr>
              <a:t>9</a:t>
            </a:fld>
            <a:endParaRPr lang="en-US" altLang="en-US"/>
          </a:p>
        </p:txBody>
      </p:sp>
      <p:sp>
        <p:nvSpPr>
          <p:cNvPr id="15" name="TextBox 14">
            <a:extLst>
              <a:ext uri="{FF2B5EF4-FFF2-40B4-BE49-F238E27FC236}">
                <a16:creationId xmlns:a16="http://schemas.microsoft.com/office/drawing/2014/main" id="{29BE279F-78D9-7F1E-8C22-8F71639A0E04}"/>
              </a:ext>
            </a:extLst>
          </p:cNvPr>
          <p:cNvSpPr txBox="1"/>
          <p:nvPr/>
        </p:nvSpPr>
        <p:spPr>
          <a:xfrm>
            <a:off x="-16178" y="152581"/>
            <a:ext cx="4245073" cy="369332"/>
          </a:xfrm>
          <a:prstGeom prst="rect">
            <a:avLst/>
          </a:prstGeom>
          <a:noFill/>
        </p:spPr>
        <p:txBody>
          <a:bodyPr wrap="none" rtlCol="0">
            <a:spAutoFit/>
          </a:bodyPr>
          <a:lstStyle/>
          <a:p>
            <a:r>
              <a:rPr lang="en-US" dirty="0"/>
              <a:t>Major cotton Diseases &amp; </a:t>
            </a:r>
            <a:r>
              <a:rPr lang="en-US" dirty="0" err="1"/>
              <a:t>Promblem</a:t>
            </a:r>
            <a:endParaRPr lang="en-IN" dirty="0"/>
          </a:p>
        </p:txBody>
      </p:sp>
      <p:pic>
        <p:nvPicPr>
          <p:cNvPr id="6" name="Picture 5">
            <a:extLst>
              <a:ext uri="{FF2B5EF4-FFF2-40B4-BE49-F238E27FC236}">
                <a16:creationId xmlns:a16="http://schemas.microsoft.com/office/drawing/2014/main" id="{53F3D01F-F28A-C82E-1159-0499BCB17E39}"/>
              </a:ext>
            </a:extLst>
          </p:cNvPr>
          <p:cNvPicPr>
            <a:picLocks noChangeAspect="1"/>
          </p:cNvPicPr>
          <p:nvPr/>
        </p:nvPicPr>
        <p:blipFill>
          <a:blip r:embed="rId2"/>
          <a:stretch>
            <a:fillRect/>
          </a:stretch>
        </p:blipFill>
        <p:spPr>
          <a:xfrm>
            <a:off x="0" y="648816"/>
            <a:ext cx="12192000" cy="5560368"/>
          </a:xfrm>
          <a:prstGeom prst="rect">
            <a:avLst/>
          </a:prstGeom>
        </p:spPr>
      </p:pic>
    </p:spTree>
    <p:extLst>
      <p:ext uri="{BB962C8B-B14F-4D97-AF65-F5344CB8AC3E}">
        <p14:creationId xmlns:p14="http://schemas.microsoft.com/office/powerpoint/2010/main" val="2999630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19561-EA05-0247-E725-97A3D3E04787}"/>
              </a:ext>
            </a:extLst>
          </p:cNvPr>
          <p:cNvSpPr>
            <a:spLocks noGrp="1"/>
          </p:cNvSpPr>
          <p:nvPr>
            <p:ph type="dt" sz="half" idx="10"/>
          </p:nvPr>
        </p:nvSpPr>
        <p:spPr/>
        <p:txBody>
          <a:bodyPr/>
          <a:lstStyle/>
          <a:p>
            <a:pPr>
              <a:defRPr/>
            </a:pPr>
            <a:r>
              <a:rPr lang="en-US" dirty="0"/>
              <a:t>Final Review</a:t>
            </a:r>
          </a:p>
        </p:txBody>
      </p:sp>
      <p:sp>
        <p:nvSpPr>
          <p:cNvPr id="3" name="Footer Placeholder 2">
            <a:extLst>
              <a:ext uri="{FF2B5EF4-FFF2-40B4-BE49-F238E27FC236}">
                <a16:creationId xmlns:a16="http://schemas.microsoft.com/office/drawing/2014/main" id="{16546784-7B74-4F5D-FCA3-776C79A30246}"/>
              </a:ext>
            </a:extLst>
          </p:cNvPr>
          <p:cNvSpPr>
            <a:spLocks noGrp="1"/>
          </p:cNvSpPr>
          <p:nvPr>
            <p:ph type="ftr" sz="quarter" idx="11"/>
          </p:nvPr>
        </p:nvSpPr>
        <p:spPr/>
        <p:txBody>
          <a:bodyPr/>
          <a:lstStyle/>
          <a:p>
            <a:pPr>
              <a:defRPr/>
            </a:pPr>
            <a:r>
              <a:rPr lang="en-US"/>
              <a:t>Department of Computer Science and Engineering</a:t>
            </a:r>
          </a:p>
        </p:txBody>
      </p:sp>
      <p:sp>
        <p:nvSpPr>
          <p:cNvPr id="4" name="Slide Number Placeholder 3">
            <a:extLst>
              <a:ext uri="{FF2B5EF4-FFF2-40B4-BE49-F238E27FC236}">
                <a16:creationId xmlns:a16="http://schemas.microsoft.com/office/drawing/2014/main" id="{FE943247-A23C-82D4-446B-20E51B280736}"/>
              </a:ext>
            </a:extLst>
          </p:cNvPr>
          <p:cNvSpPr>
            <a:spLocks noGrp="1"/>
          </p:cNvSpPr>
          <p:nvPr>
            <p:ph type="sldNum" sz="quarter" idx="12"/>
          </p:nvPr>
        </p:nvSpPr>
        <p:spPr/>
        <p:txBody>
          <a:bodyPr/>
          <a:lstStyle/>
          <a:p>
            <a:pPr>
              <a:defRPr/>
            </a:pPr>
            <a:fld id="{DD537315-F462-4C74-88B4-A900525A3FAA}" type="slidenum">
              <a:rPr lang="en-US" altLang="en-US" smtClean="0"/>
              <a:pPr>
                <a:defRPr/>
              </a:pPr>
              <a:t>10</a:t>
            </a:fld>
            <a:endParaRPr lang="en-US" altLang="en-US"/>
          </a:p>
        </p:txBody>
      </p:sp>
      <p:sp>
        <p:nvSpPr>
          <p:cNvPr id="7" name="TextBox 6">
            <a:extLst>
              <a:ext uri="{FF2B5EF4-FFF2-40B4-BE49-F238E27FC236}">
                <a16:creationId xmlns:a16="http://schemas.microsoft.com/office/drawing/2014/main" id="{C58602D1-B932-727C-49E7-F74E7A477C16}"/>
              </a:ext>
            </a:extLst>
          </p:cNvPr>
          <p:cNvSpPr txBox="1"/>
          <p:nvPr/>
        </p:nvSpPr>
        <p:spPr>
          <a:xfrm>
            <a:off x="812800" y="704807"/>
            <a:ext cx="3950496" cy="369332"/>
          </a:xfrm>
          <a:prstGeom prst="rect">
            <a:avLst/>
          </a:prstGeom>
          <a:noFill/>
        </p:spPr>
        <p:txBody>
          <a:bodyPr wrap="square" rtlCol="0">
            <a:spAutoFit/>
          </a:bodyPr>
          <a:lstStyle/>
          <a:p>
            <a:r>
              <a:rPr lang="en-US" dirty="0"/>
              <a:t>Disease guide</a:t>
            </a:r>
            <a:endParaRPr lang="en-IN" dirty="0"/>
          </a:p>
        </p:txBody>
      </p:sp>
      <p:pic>
        <p:nvPicPr>
          <p:cNvPr id="8" name="Picture 7">
            <a:extLst>
              <a:ext uri="{FF2B5EF4-FFF2-40B4-BE49-F238E27FC236}">
                <a16:creationId xmlns:a16="http://schemas.microsoft.com/office/drawing/2014/main" id="{D99F90A0-B459-A2C0-279E-A70347553F9C}"/>
              </a:ext>
            </a:extLst>
          </p:cNvPr>
          <p:cNvPicPr>
            <a:picLocks noChangeAspect="1"/>
          </p:cNvPicPr>
          <p:nvPr/>
        </p:nvPicPr>
        <p:blipFill>
          <a:blip r:embed="rId2"/>
          <a:stretch>
            <a:fillRect/>
          </a:stretch>
        </p:blipFill>
        <p:spPr>
          <a:xfrm>
            <a:off x="500102" y="1635760"/>
            <a:ext cx="6416596" cy="4609465"/>
          </a:xfrm>
          <a:prstGeom prst="rect">
            <a:avLst/>
          </a:prstGeom>
        </p:spPr>
      </p:pic>
      <p:pic>
        <p:nvPicPr>
          <p:cNvPr id="10" name="Picture 9">
            <a:extLst>
              <a:ext uri="{FF2B5EF4-FFF2-40B4-BE49-F238E27FC236}">
                <a16:creationId xmlns:a16="http://schemas.microsoft.com/office/drawing/2014/main" id="{DBD96E24-3A09-FC33-1369-06BC54BF18AB}"/>
              </a:ext>
            </a:extLst>
          </p:cNvPr>
          <p:cNvPicPr>
            <a:picLocks noChangeAspect="1"/>
          </p:cNvPicPr>
          <p:nvPr/>
        </p:nvPicPr>
        <p:blipFill>
          <a:blip r:embed="rId3"/>
          <a:stretch>
            <a:fillRect/>
          </a:stretch>
        </p:blipFill>
        <p:spPr>
          <a:xfrm>
            <a:off x="7030720" y="1635760"/>
            <a:ext cx="4348480" cy="4450080"/>
          </a:xfrm>
          <a:prstGeom prst="rect">
            <a:avLst/>
          </a:prstGeom>
        </p:spPr>
      </p:pic>
    </p:spTree>
    <p:extLst>
      <p:ext uri="{BB962C8B-B14F-4D97-AF65-F5344CB8AC3E}">
        <p14:creationId xmlns:p14="http://schemas.microsoft.com/office/powerpoint/2010/main" val="1414375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55612C-2682-3B39-E9AE-3D81C9FF837E}"/>
              </a:ext>
            </a:extLst>
          </p:cNvPr>
          <p:cNvSpPr>
            <a:spLocks noGrp="1"/>
          </p:cNvSpPr>
          <p:nvPr>
            <p:ph type="dt" sz="half" idx="10"/>
          </p:nvPr>
        </p:nvSpPr>
        <p:spPr/>
        <p:txBody>
          <a:bodyPr/>
          <a:lstStyle/>
          <a:p>
            <a:pPr>
              <a:defRPr/>
            </a:pPr>
            <a:r>
              <a:rPr lang="en-US" dirty="0"/>
              <a:t>Final Review</a:t>
            </a:r>
          </a:p>
        </p:txBody>
      </p:sp>
      <p:sp>
        <p:nvSpPr>
          <p:cNvPr id="3" name="Footer Placeholder 2">
            <a:extLst>
              <a:ext uri="{FF2B5EF4-FFF2-40B4-BE49-F238E27FC236}">
                <a16:creationId xmlns:a16="http://schemas.microsoft.com/office/drawing/2014/main" id="{7978F68D-6526-042D-A170-E3D66AB86411}"/>
              </a:ext>
            </a:extLst>
          </p:cNvPr>
          <p:cNvSpPr>
            <a:spLocks noGrp="1"/>
          </p:cNvSpPr>
          <p:nvPr>
            <p:ph type="ftr" sz="quarter" idx="11"/>
          </p:nvPr>
        </p:nvSpPr>
        <p:spPr/>
        <p:txBody>
          <a:bodyPr/>
          <a:lstStyle/>
          <a:p>
            <a:pPr>
              <a:defRPr/>
            </a:pPr>
            <a:r>
              <a:rPr lang="en-US"/>
              <a:t>Department of Computer Science and Engineering</a:t>
            </a:r>
          </a:p>
        </p:txBody>
      </p:sp>
      <p:sp>
        <p:nvSpPr>
          <p:cNvPr id="4" name="Slide Number Placeholder 3">
            <a:extLst>
              <a:ext uri="{FF2B5EF4-FFF2-40B4-BE49-F238E27FC236}">
                <a16:creationId xmlns:a16="http://schemas.microsoft.com/office/drawing/2014/main" id="{6AE69235-6F95-7810-EEFF-BDBC68064A9D}"/>
              </a:ext>
            </a:extLst>
          </p:cNvPr>
          <p:cNvSpPr>
            <a:spLocks noGrp="1"/>
          </p:cNvSpPr>
          <p:nvPr>
            <p:ph type="sldNum" sz="quarter" idx="12"/>
          </p:nvPr>
        </p:nvSpPr>
        <p:spPr/>
        <p:txBody>
          <a:bodyPr/>
          <a:lstStyle/>
          <a:p>
            <a:pPr>
              <a:defRPr/>
            </a:pPr>
            <a:fld id="{DD537315-F462-4C74-88B4-A900525A3FAA}" type="slidenum">
              <a:rPr lang="en-US" altLang="en-US" smtClean="0"/>
              <a:pPr>
                <a:defRPr/>
              </a:pPr>
              <a:t>11</a:t>
            </a:fld>
            <a:endParaRPr lang="en-US" altLang="en-US"/>
          </a:p>
        </p:txBody>
      </p:sp>
      <p:pic>
        <p:nvPicPr>
          <p:cNvPr id="13" name="Picture 12">
            <a:extLst>
              <a:ext uri="{FF2B5EF4-FFF2-40B4-BE49-F238E27FC236}">
                <a16:creationId xmlns:a16="http://schemas.microsoft.com/office/drawing/2014/main" id="{97A54A63-9FF8-964B-23DF-888A4AF96AD7}"/>
              </a:ext>
            </a:extLst>
          </p:cNvPr>
          <p:cNvPicPr>
            <a:picLocks noChangeAspect="1"/>
          </p:cNvPicPr>
          <p:nvPr/>
        </p:nvPicPr>
        <p:blipFill>
          <a:blip r:embed="rId2"/>
          <a:stretch>
            <a:fillRect/>
          </a:stretch>
        </p:blipFill>
        <p:spPr>
          <a:xfrm>
            <a:off x="812800" y="1698171"/>
            <a:ext cx="10673184" cy="4310743"/>
          </a:xfrm>
          <a:prstGeom prst="rect">
            <a:avLst/>
          </a:prstGeom>
        </p:spPr>
      </p:pic>
      <p:sp>
        <p:nvSpPr>
          <p:cNvPr id="14" name="TextBox 13">
            <a:extLst>
              <a:ext uri="{FF2B5EF4-FFF2-40B4-BE49-F238E27FC236}">
                <a16:creationId xmlns:a16="http://schemas.microsoft.com/office/drawing/2014/main" id="{5DB7D5EB-EE53-73F8-7C85-70B87DFB0EDA}"/>
              </a:ext>
            </a:extLst>
          </p:cNvPr>
          <p:cNvSpPr txBox="1"/>
          <p:nvPr/>
        </p:nvSpPr>
        <p:spPr>
          <a:xfrm>
            <a:off x="1156996" y="643812"/>
            <a:ext cx="3227102" cy="369332"/>
          </a:xfrm>
          <a:prstGeom prst="rect">
            <a:avLst/>
          </a:prstGeom>
          <a:noFill/>
        </p:spPr>
        <p:txBody>
          <a:bodyPr wrap="none" rtlCol="0">
            <a:spAutoFit/>
          </a:bodyPr>
          <a:lstStyle/>
          <a:p>
            <a:r>
              <a:rPr lang="en-US" dirty="0"/>
              <a:t>Farmer Advisory </a:t>
            </a:r>
            <a:r>
              <a:rPr lang="en-US" dirty="0" err="1"/>
              <a:t>Assiatant</a:t>
            </a:r>
            <a:endParaRPr lang="en-IN" dirty="0"/>
          </a:p>
        </p:txBody>
      </p:sp>
    </p:spTree>
    <p:extLst>
      <p:ext uri="{BB962C8B-B14F-4D97-AF65-F5344CB8AC3E}">
        <p14:creationId xmlns:p14="http://schemas.microsoft.com/office/powerpoint/2010/main" val="1238092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476C88-DD03-F499-1E08-32A03E1D2BD6}"/>
              </a:ext>
            </a:extLst>
          </p:cNvPr>
          <p:cNvSpPr>
            <a:spLocks noGrp="1"/>
          </p:cNvSpPr>
          <p:nvPr>
            <p:ph type="dt" sz="half" idx="10"/>
          </p:nvPr>
        </p:nvSpPr>
        <p:spPr/>
        <p:txBody>
          <a:bodyPr/>
          <a:lstStyle/>
          <a:p>
            <a:pPr>
              <a:defRPr/>
            </a:pPr>
            <a:r>
              <a:rPr lang="en-US" dirty="0"/>
              <a:t>Final Review</a:t>
            </a:r>
          </a:p>
        </p:txBody>
      </p:sp>
      <p:sp>
        <p:nvSpPr>
          <p:cNvPr id="3" name="Footer Placeholder 2">
            <a:extLst>
              <a:ext uri="{FF2B5EF4-FFF2-40B4-BE49-F238E27FC236}">
                <a16:creationId xmlns:a16="http://schemas.microsoft.com/office/drawing/2014/main" id="{65C16068-A832-D613-258F-B4020939C474}"/>
              </a:ext>
            </a:extLst>
          </p:cNvPr>
          <p:cNvSpPr>
            <a:spLocks noGrp="1"/>
          </p:cNvSpPr>
          <p:nvPr>
            <p:ph type="ftr" sz="quarter" idx="11"/>
          </p:nvPr>
        </p:nvSpPr>
        <p:spPr/>
        <p:txBody>
          <a:bodyPr/>
          <a:lstStyle/>
          <a:p>
            <a:pPr>
              <a:defRPr/>
            </a:pPr>
            <a:r>
              <a:rPr lang="en-US" dirty="0"/>
              <a:t>Department of Computer Science and Engineering</a:t>
            </a:r>
          </a:p>
        </p:txBody>
      </p:sp>
      <p:sp>
        <p:nvSpPr>
          <p:cNvPr id="4" name="Slide Number Placeholder 3">
            <a:extLst>
              <a:ext uri="{FF2B5EF4-FFF2-40B4-BE49-F238E27FC236}">
                <a16:creationId xmlns:a16="http://schemas.microsoft.com/office/drawing/2014/main" id="{CB9D220D-A39F-344B-C745-9DDF751DEF7D}"/>
              </a:ext>
            </a:extLst>
          </p:cNvPr>
          <p:cNvSpPr>
            <a:spLocks noGrp="1"/>
          </p:cNvSpPr>
          <p:nvPr>
            <p:ph type="sldNum" sz="quarter" idx="12"/>
          </p:nvPr>
        </p:nvSpPr>
        <p:spPr/>
        <p:txBody>
          <a:bodyPr/>
          <a:lstStyle/>
          <a:p>
            <a:pPr>
              <a:defRPr/>
            </a:pPr>
            <a:fld id="{DD537315-F462-4C74-88B4-A900525A3FAA}" type="slidenum">
              <a:rPr lang="en-US" altLang="en-US" smtClean="0"/>
              <a:pPr>
                <a:defRPr/>
              </a:pPr>
              <a:t>12</a:t>
            </a:fld>
            <a:endParaRPr lang="en-US" altLang="en-US"/>
          </a:p>
        </p:txBody>
      </p:sp>
      <p:sp>
        <p:nvSpPr>
          <p:cNvPr id="9" name="TextBox 8">
            <a:extLst>
              <a:ext uri="{FF2B5EF4-FFF2-40B4-BE49-F238E27FC236}">
                <a16:creationId xmlns:a16="http://schemas.microsoft.com/office/drawing/2014/main" id="{919576FD-5134-45CC-4B36-1891637C19B3}"/>
              </a:ext>
            </a:extLst>
          </p:cNvPr>
          <p:cNvSpPr txBox="1"/>
          <p:nvPr/>
        </p:nvSpPr>
        <p:spPr>
          <a:xfrm>
            <a:off x="812800" y="659700"/>
            <a:ext cx="5231240" cy="369332"/>
          </a:xfrm>
          <a:prstGeom prst="rect">
            <a:avLst/>
          </a:prstGeom>
          <a:noFill/>
        </p:spPr>
        <p:txBody>
          <a:bodyPr wrap="square" rtlCol="0">
            <a:spAutoFit/>
          </a:bodyPr>
          <a:lstStyle/>
          <a:p>
            <a:r>
              <a:rPr lang="en-US" dirty="0"/>
              <a:t>AI Detection Portal</a:t>
            </a:r>
            <a:endParaRPr lang="en-IN" dirty="0"/>
          </a:p>
        </p:txBody>
      </p:sp>
      <p:pic>
        <p:nvPicPr>
          <p:cNvPr id="6" name="Picture 5">
            <a:extLst>
              <a:ext uri="{FF2B5EF4-FFF2-40B4-BE49-F238E27FC236}">
                <a16:creationId xmlns:a16="http://schemas.microsoft.com/office/drawing/2014/main" id="{74EE5947-C1C0-10DD-886F-1A84A92B0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654" y="1710442"/>
            <a:ext cx="5598493" cy="3437115"/>
          </a:xfrm>
          <a:prstGeom prst="rect">
            <a:avLst/>
          </a:prstGeom>
        </p:spPr>
      </p:pic>
      <p:pic>
        <p:nvPicPr>
          <p:cNvPr id="10" name="Picture 9">
            <a:extLst>
              <a:ext uri="{FF2B5EF4-FFF2-40B4-BE49-F238E27FC236}">
                <a16:creationId xmlns:a16="http://schemas.microsoft.com/office/drawing/2014/main" id="{3DA34EB9-169B-DDD8-87B0-4C7112E283F5}"/>
              </a:ext>
            </a:extLst>
          </p:cNvPr>
          <p:cNvPicPr>
            <a:picLocks noChangeAspect="1"/>
          </p:cNvPicPr>
          <p:nvPr/>
        </p:nvPicPr>
        <p:blipFill>
          <a:blip r:embed="rId3"/>
          <a:stretch>
            <a:fillRect/>
          </a:stretch>
        </p:blipFill>
        <p:spPr>
          <a:xfrm>
            <a:off x="6315002" y="1710442"/>
            <a:ext cx="5375344" cy="3365411"/>
          </a:xfrm>
          <a:prstGeom prst="rect">
            <a:avLst/>
          </a:prstGeom>
        </p:spPr>
      </p:pic>
    </p:spTree>
    <p:extLst>
      <p:ext uri="{BB962C8B-B14F-4D97-AF65-F5344CB8AC3E}">
        <p14:creationId xmlns:p14="http://schemas.microsoft.com/office/powerpoint/2010/main" val="982689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36599" y="211904"/>
            <a:ext cx="10668000" cy="661553"/>
          </a:xfrm>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LITERATURE SURVEY </a:t>
            </a:r>
            <a:endParaRPr lang="en-IN"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00" name="Data Table"/>
          <p:cNvGraphicFramePr>
            <a:graphicFrameLocks noGrp="1"/>
          </p:cNvGraphicFramePr>
          <p:nvPr>
            <p:ph idx="1"/>
            <p:extLst>
              <p:ext uri="{D42A27DB-BD31-4B8C-83A1-F6EECF244321}">
                <p14:modId xmlns:p14="http://schemas.microsoft.com/office/powerpoint/2010/main" val="1148850309"/>
              </p:ext>
            </p:extLst>
          </p:nvPr>
        </p:nvGraphicFramePr>
        <p:xfrm>
          <a:off x="736599" y="883920"/>
          <a:ext cx="10444481" cy="5394960"/>
        </p:xfrm>
        <a:graphic>
          <a:graphicData uri="http://schemas.openxmlformats.org/drawingml/2006/table">
            <a:tbl>
              <a:tblPr firstRow="1" bandRow="1">
                <a:tableStyleId>{5C22544A-7EE6-4342-B048-85BDC9FD1C3A}</a:tableStyleId>
              </a:tblPr>
              <a:tblGrid>
                <a:gridCol w="2321863">
                  <a:extLst>
                    <a:ext uri="{9D8B030D-6E8A-4147-A177-3AD203B41FA5}">
                      <a16:colId xmlns:a16="http://schemas.microsoft.com/office/drawing/2014/main" val="20000"/>
                    </a:ext>
                  </a:extLst>
                </a:gridCol>
                <a:gridCol w="3537469">
                  <a:extLst>
                    <a:ext uri="{9D8B030D-6E8A-4147-A177-3AD203B41FA5}">
                      <a16:colId xmlns:a16="http://schemas.microsoft.com/office/drawing/2014/main" val="20001"/>
                    </a:ext>
                  </a:extLst>
                </a:gridCol>
                <a:gridCol w="2543752">
                  <a:extLst>
                    <a:ext uri="{9D8B030D-6E8A-4147-A177-3AD203B41FA5}">
                      <a16:colId xmlns:a16="http://schemas.microsoft.com/office/drawing/2014/main" val="20002"/>
                    </a:ext>
                  </a:extLst>
                </a:gridCol>
                <a:gridCol w="2041397">
                  <a:extLst>
                    <a:ext uri="{9D8B030D-6E8A-4147-A177-3AD203B41FA5}">
                      <a16:colId xmlns:a16="http://schemas.microsoft.com/office/drawing/2014/main" val="20003"/>
                    </a:ext>
                  </a:extLst>
                </a:gridCol>
              </a:tblGrid>
              <a:tr h="263917">
                <a:tc>
                  <a:txBody>
                    <a:bodyPr/>
                    <a:lstStyle/>
                    <a:p>
                      <a:pPr algn="ctr"/>
                      <a:r>
                        <a:rPr lang="en-IN" sz="1200" b="1" dirty="0"/>
                        <a:t>Author(s) / Year</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IN" sz="1200" b="1" dirty="0"/>
                        <a:t>Title of the Paper</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IN" sz="1200" b="1" dirty="0"/>
                        <a:t>Methodology / Approach</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IN" sz="1200" b="1" dirty="0"/>
                        <a:t>Inference</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0"/>
                  </a:ext>
                </a:extLst>
              </a:tr>
              <a:tr h="967695">
                <a:tc>
                  <a:txBody>
                    <a:bodyPr/>
                    <a:lstStyle/>
                    <a:p>
                      <a:r>
                        <a:rPr lang="en-IN" sz="1000" dirty="0"/>
                        <a:t>Khan et al. (2022)</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Cotton Leaf Disease Detection Using Instance Segmentation</a:t>
                      </a:r>
                    </a:p>
                  </a:txBody>
                  <a:tcPr anchor="ctr">
                    <a:lnL w="6350">
                      <a:solidFill>
                        <a:srgbClr val="BFBFBF"/>
                      </a:solidFill>
                    </a:lnL>
                    <a:lnR w="6350">
                      <a:solidFill>
                        <a:srgbClr val="BFBFBF"/>
                      </a:solidFill>
                    </a:lnR>
                    <a:lnT w="6350">
                      <a:solidFill>
                        <a:srgbClr val="BFBFBF"/>
                      </a:solidFill>
                    </a:lnT>
                    <a:lnB w="6350" cap="flat" cmpd="sng" algn="ctr">
                      <a:solidFill>
                        <a:srgbClr val="BFBFBF"/>
                      </a:solidFill>
                      <a:prstDash val="solid"/>
                      <a:round/>
                      <a:headEnd type="none" w="med" len="med"/>
                      <a:tailEnd type="none" w="med" len="med"/>
                    </a:lnB>
                  </a:tcPr>
                </a:tc>
                <a:tc>
                  <a:txBody>
                    <a:bodyPr/>
                    <a:lstStyle/>
                    <a:p>
                      <a:r>
                        <a:rPr lang="en-IN" sz="1000" dirty="0"/>
                        <a:t>Mask R-CNN with transfer learning for cotton leaf disease detection</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Achieved about </a:t>
                      </a:r>
                      <a:r>
                        <a:rPr lang="en-IN" sz="1000" b="1" dirty="0"/>
                        <a:t>94% training accuracy</a:t>
                      </a:r>
                      <a:r>
                        <a:rPr lang="en-IN" sz="1000" dirty="0"/>
                        <a:t> and demonstrated the usefulness of deep learning for practical cotton disease detection.</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1"/>
                  </a:ext>
                </a:extLst>
              </a:tr>
              <a:tr h="821074">
                <a:tc>
                  <a:txBody>
                    <a:bodyPr/>
                    <a:lstStyle/>
                    <a:p>
                      <a:r>
                        <a:rPr lang="en-IN" sz="1000" dirty="0"/>
                        <a:t>Shahakar, Likhare, Wakode et al. (2023)</a:t>
                      </a:r>
                    </a:p>
                  </a:txBody>
                  <a:tcPr anchor="ctr">
                    <a:lnL w="6350">
                      <a:solidFill>
                        <a:srgbClr val="BFBFBF"/>
                      </a:solidFill>
                    </a:lnL>
                    <a:lnR w="6350" cap="flat" cmpd="sng" algn="ctr">
                      <a:solidFill>
                        <a:srgbClr val="BFBFBF"/>
                      </a:solidFill>
                      <a:prstDash val="solid"/>
                      <a:round/>
                      <a:headEnd type="none" w="med" len="med"/>
                      <a:tailEnd type="none" w="med" len="med"/>
                    </a:lnR>
                    <a:lnT w="6350">
                      <a:solidFill>
                        <a:srgbClr val="BFBFBF"/>
                      </a:solidFill>
                    </a:lnT>
                    <a:lnB w="6350">
                      <a:solidFill>
                        <a:srgbClr val="BFBFBF"/>
                      </a:solidFill>
                    </a:lnB>
                  </a:tcPr>
                </a:tc>
                <a:tc>
                  <a:txBody>
                    <a:bodyPr/>
                    <a:lstStyle/>
                    <a:p>
                      <a:pPr>
                        <a:buNone/>
                      </a:pPr>
                      <a:r>
                        <a:rPr lang="en-IN" sz="1200" dirty="0">
                          <a:latin typeface="Times New Roman" panose="02020603050405020304" pitchFamily="18" charset="0"/>
                          <a:cs typeface="Times New Roman" panose="02020603050405020304" pitchFamily="18" charset="0"/>
                        </a:rPr>
                        <a:t>Cotton Leaf Disease Classification using Deep Convolution Neural Network with Explainable AI</a:t>
                      </a:r>
                    </a:p>
                  </a:txBody>
                  <a:tcPr anchor="ctr">
                    <a:lnL w="6350">
                      <a:solidFill>
                        <a:srgbClr val="BFBFBF"/>
                      </a:solidFill>
                    </a:lnL>
                    <a:lnR w="6350">
                      <a:solidFill>
                        <a:srgbClr val="BFBFBF"/>
                      </a:solidFill>
                    </a:lnR>
                    <a:lnT w="6350">
                      <a:solidFill>
                        <a:srgbClr val="BFBFBF"/>
                      </a:solidFill>
                    </a:lnT>
                    <a:lnB w="6350" cap="flat" cmpd="sng" algn="ctr">
                      <a:solidFill>
                        <a:srgbClr val="BFBFBF"/>
                      </a:solidFill>
                      <a:prstDash val="solid"/>
                      <a:round/>
                      <a:headEnd type="none" w="med" len="med"/>
                      <a:tailEnd type="none" w="med" len="med"/>
                    </a:lnB>
                  </a:tcPr>
                </a:tc>
                <a:tc>
                  <a:txBody>
                    <a:bodyPr/>
                    <a:lstStyle/>
                    <a:p>
                      <a:r>
                        <a:rPr lang="en-IN" sz="1000" dirty="0"/>
                        <a:t>Lightweight deep-learning framework for cotton leaf disease recognition</a:t>
                      </a:r>
                    </a:p>
                  </a:txBody>
                  <a:tcPr anchor="ctr">
                    <a:lnL w="6350" cap="flat" cmpd="sng" algn="ctr">
                      <a:solidFill>
                        <a:srgbClr val="BFBFBF"/>
                      </a:solidFill>
                      <a:prstDash val="solid"/>
                      <a:round/>
                      <a:headEnd type="none" w="med" len="med"/>
                      <a:tailEnd type="none" w="med" len="med"/>
                    </a:lnL>
                    <a:lnR w="6350">
                      <a:solidFill>
                        <a:srgbClr val="BFBFBF"/>
                      </a:solidFill>
                    </a:lnR>
                    <a:lnT w="6350">
                      <a:solidFill>
                        <a:srgbClr val="BFBFBF"/>
                      </a:solidFill>
                    </a:lnT>
                    <a:lnB w="6350">
                      <a:solidFill>
                        <a:srgbClr val="BFBFBF"/>
                      </a:solidFill>
                    </a:lnB>
                  </a:tcPr>
                </a:tc>
                <a:tc>
                  <a:txBody>
                    <a:bodyPr/>
                    <a:lstStyle/>
                    <a:p>
                      <a:r>
                        <a:rPr lang="en-IN" sz="1000" dirty="0"/>
                        <a:t>Demonstrated that computationally efficient deep-learning approaches can be used for cotton disease recognition.</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2"/>
                  </a:ext>
                </a:extLst>
              </a:tr>
              <a:tr h="821074">
                <a:tc>
                  <a:txBody>
                    <a:bodyPr/>
                    <a:lstStyle/>
                    <a:p>
                      <a:r>
                        <a:rPr lang="en-IN" sz="1000" dirty="0"/>
                        <a:t>Ferentinos et al. (2021)</a:t>
                      </a:r>
                    </a:p>
                  </a:txBody>
                  <a:tcPr anchor="ctr">
                    <a:lnL w="6350">
                      <a:solidFill>
                        <a:srgbClr val="BFBFBF"/>
                      </a:solidFill>
                    </a:lnL>
                    <a:lnR w="6350" cap="flat" cmpd="sng" algn="ctr">
                      <a:solidFill>
                        <a:srgbClr val="BFBFBF"/>
                      </a:solidFill>
                      <a:prstDash val="solid"/>
                      <a:round/>
                      <a:headEnd type="none" w="med" len="med"/>
                      <a:tailEnd type="none" w="med" len="med"/>
                    </a:lnR>
                    <a:lnT w="6350">
                      <a:solidFill>
                        <a:srgbClr val="BFBFBF"/>
                      </a:solidFill>
                    </a:lnT>
                    <a:lnB w="6350">
                      <a:solidFill>
                        <a:srgbClr val="BFBFBF"/>
                      </a:solidFill>
                    </a:lnB>
                  </a:tcPr>
                </a:tc>
                <a:tc>
                  <a:txBody>
                    <a:bodyPr/>
                    <a:lstStyle/>
                    <a:p>
                      <a:pPr>
                        <a:buNone/>
                      </a:pPr>
                      <a:r>
                        <a:rPr lang="en-IN" sz="1100" dirty="0"/>
                        <a:t>Identification of Cotton Leaf Lesions Using Deep Learning Techniques</a:t>
                      </a:r>
                      <a:endParaRPr lang="en-IN" sz="1100" dirty="0">
                        <a:latin typeface="Times New Roman" panose="02020603050405020304" pitchFamily="18" charset="0"/>
                        <a:cs typeface="Times New Roman" panose="02020603050405020304" pitchFamily="18" charset="0"/>
                      </a:endParaRPr>
                    </a:p>
                  </a:txBody>
                  <a:tcPr anchor="ctr">
                    <a:lnL w="6350">
                      <a:solidFill>
                        <a:srgbClr val="BFBFBF"/>
                      </a:solidFill>
                    </a:lnL>
                    <a:lnR w="6350">
                      <a:solidFill>
                        <a:srgbClr val="BFBFBF"/>
                      </a:solidFill>
                    </a:lnR>
                    <a:lnT w="6350" cap="flat" cmpd="sng" algn="ctr">
                      <a:solidFill>
                        <a:srgbClr val="BFBFBF"/>
                      </a:solidFill>
                      <a:prstDash val="solid"/>
                      <a:round/>
                      <a:headEnd type="none" w="med" len="med"/>
                      <a:tailEnd type="none" w="med" len="med"/>
                    </a:lnT>
                    <a:lnB w="6350">
                      <a:solidFill>
                        <a:srgbClr val="BFBFBF"/>
                      </a:solidFill>
                    </a:lnB>
                  </a:tcPr>
                </a:tc>
                <a:tc>
                  <a:txBody>
                    <a:bodyPr/>
                    <a:lstStyle/>
                    <a:p>
                      <a:r>
                        <a:rPr lang="en-IN" sz="1000" dirty="0" err="1"/>
                        <a:t>GoogleNet</a:t>
                      </a:r>
                      <a:r>
                        <a:rPr lang="en-IN" sz="1000" dirty="0"/>
                        <a:t> and ResNet50 CNN models for field-based cotton leaf lesion detection</a:t>
                      </a:r>
                    </a:p>
                  </a:txBody>
                  <a:tcPr anchor="ctr">
                    <a:lnL w="6350" cap="flat" cmpd="sng" algn="ctr">
                      <a:solidFill>
                        <a:srgbClr val="BFBFBF"/>
                      </a:solidFill>
                      <a:prstDash val="solid"/>
                      <a:round/>
                      <a:headEnd type="none" w="med" len="med"/>
                      <a:tailEnd type="none" w="med" len="med"/>
                    </a:lnL>
                    <a:lnR w="6350">
                      <a:solidFill>
                        <a:srgbClr val="BFBFBF"/>
                      </a:solidFill>
                    </a:lnR>
                    <a:lnT w="6350">
                      <a:solidFill>
                        <a:srgbClr val="BFBFBF"/>
                      </a:solidFill>
                    </a:lnT>
                    <a:lnB w="6350">
                      <a:solidFill>
                        <a:srgbClr val="BFBFBF"/>
                      </a:solidFill>
                    </a:lnB>
                  </a:tcPr>
                </a:tc>
                <a:tc>
                  <a:txBody>
                    <a:bodyPr/>
                    <a:lstStyle/>
                    <a:p>
                      <a:r>
                        <a:rPr lang="en-IN" sz="1000" dirty="0"/>
                        <a:t>ResNet50 achieved </a:t>
                      </a:r>
                      <a:r>
                        <a:rPr lang="en-IN" sz="1000" b="1" dirty="0"/>
                        <a:t>89.2% precision</a:t>
                      </a:r>
                      <a:r>
                        <a:rPr lang="en-IN" sz="1000" dirty="0"/>
                        <a:t>, showing the potential of CNNs for field-level cotton disease monitoring.</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3"/>
                  </a:ext>
                </a:extLst>
              </a:tr>
              <a:tr h="674453">
                <a:tc>
                  <a:txBody>
                    <a:bodyPr/>
                    <a:lstStyle/>
                    <a:p>
                      <a:r>
                        <a:rPr lang="en-IN" sz="1000" dirty="0"/>
                        <a:t>Hassan et al. (2021)</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Cotton Leaf Diseases Recognition Using Deep Learning and Genetic Algorithm</a:t>
                      </a:r>
                    </a:p>
                  </a:txBody>
                  <a:tcPr anchor="ctr">
                    <a:lnL w="6350">
                      <a:solidFill>
                        <a:srgbClr val="BFBFBF"/>
                      </a:solidFill>
                    </a:lnL>
                    <a:lnR w="6350">
                      <a:solidFill>
                        <a:srgbClr val="BFBFBF"/>
                      </a:solidFill>
                    </a:lnR>
                    <a:lnT w="6350" cap="flat" cmpd="sng" algn="ctr">
                      <a:solidFill>
                        <a:srgbClr val="BFBFBF"/>
                      </a:solidFill>
                      <a:prstDash val="solid"/>
                      <a:round/>
                      <a:headEnd type="none" w="med" len="med"/>
                      <a:tailEnd type="none" w="med" len="med"/>
                    </a:lnT>
                    <a:lnB w="6350">
                      <a:solidFill>
                        <a:srgbClr val="BFBFBF"/>
                      </a:solidFill>
                    </a:lnB>
                  </a:tcPr>
                </a:tc>
                <a:tc>
                  <a:txBody>
                    <a:bodyPr/>
                    <a:lstStyle/>
                    <a:p>
                      <a:r>
                        <a:rPr lang="en-IN" sz="1000" dirty="0"/>
                        <a:t>ResNet101 transfer learning, feature fusion, data augmentation and Genetic Algorithm</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Feature selection and deep learning improved the recognition of different cotton leaf diseases.</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4"/>
                  </a:ext>
                </a:extLst>
              </a:tr>
              <a:tr h="821074">
                <a:tc>
                  <a:txBody>
                    <a:bodyPr/>
                    <a:lstStyle/>
                    <a:p>
                      <a:r>
                        <a:rPr lang="en-IN" sz="1000" dirty="0"/>
                        <a:t>Islam et al. (2023)</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A Deep Learning Model for Cotton Disease Prediction Using Fine-Tuning with Smart Web Application in Agriculture</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Fine-tuned VGG16, VGG19, InceptionV3 and </a:t>
                      </a:r>
                      <a:r>
                        <a:rPr lang="en-IN" sz="1000" dirty="0" err="1"/>
                        <a:t>Xception</a:t>
                      </a:r>
                      <a:r>
                        <a:rPr lang="en-IN" sz="1000" dirty="0"/>
                        <a:t> models</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b="1" dirty="0" err="1"/>
                        <a:t>Xception</a:t>
                      </a:r>
                      <a:r>
                        <a:rPr lang="en-IN" sz="1000" b="1" dirty="0"/>
                        <a:t> achieved 98.70% accuracy</a:t>
                      </a:r>
                      <a:r>
                        <a:rPr lang="en-IN" sz="1000" dirty="0"/>
                        <a:t> and was integrated into a smart web application for cotton disease prediction.</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5"/>
                  </a:ext>
                </a:extLst>
              </a:tr>
              <a:tr h="426233">
                <a:tc>
                  <a:txBody>
                    <a:bodyPr/>
                    <a:lstStyle/>
                    <a:p>
                      <a:r>
                        <a:rPr lang="en-IN" sz="1000" dirty="0"/>
                        <a:t>Johri et al. (2024)</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a:t>Advanced Deep Transfer Learning Techniques for Efficient Detection of Cotton Plant Diseases</a:t>
                      </a:r>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dirty="0" err="1"/>
                        <a:t>EfficientNet</a:t>
                      </a:r>
                      <a:r>
                        <a:rPr lang="en-IN" sz="1000" dirty="0"/>
                        <a:t>, </a:t>
                      </a:r>
                      <a:r>
                        <a:rPr lang="en-IN" sz="1000" dirty="0" err="1"/>
                        <a:t>Xception</a:t>
                      </a:r>
                      <a:r>
                        <a:rPr lang="en-IN" sz="1000" dirty="0"/>
                        <a:t>, </a:t>
                      </a:r>
                      <a:r>
                        <a:rPr lang="en-IN" sz="1000" dirty="0" err="1"/>
                        <a:t>ResNet</a:t>
                      </a:r>
                      <a:r>
                        <a:rPr lang="en-IN" sz="1000" dirty="0"/>
                        <a:t>, Inception, VGG, </a:t>
                      </a:r>
                      <a:r>
                        <a:rPr lang="en-IN" sz="1000" dirty="0" err="1"/>
                        <a:t>DenseNet</a:t>
                      </a:r>
                      <a:r>
                        <a:rPr lang="en-IN" sz="1000" dirty="0"/>
                        <a:t> and </a:t>
                      </a:r>
                      <a:r>
                        <a:rPr lang="en-IN" sz="1000" dirty="0" err="1"/>
                        <a:t>MobileNet</a:t>
                      </a:r>
                      <a:endParaRPr lang="en-IN" sz="1000" dirty="0"/>
                    </a:p>
                  </a:txBody>
                  <a:tcPr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r>
                        <a:rPr lang="en-IN" sz="1000" b="1" dirty="0"/>
                        <a:t>EfficientNetB3 achieved 99.96% accuracy</a:t>
                      </a:r>
                      <a:r>
                        <a:rPr lang="en-IN" sz="1000" dirty="0"/>
                        <a:t>, showing strong potential for automated cotton disease detection.</a:t>
                      </a:r>
                    </a:p>
                  </a:txBody>
                  <a:tcPr anchor="ct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6"/>
                  </a:ext>
                </a:extLst>
              </a:tr>
            </a:tbl>
          </a:graphicData>
        </a:graphic>
      </p:graphicFrame>
      <p:sp>
        <p:nvSpPr>
          <p:cNvPr id="4" name="Date Placeholder 3">
            <a:extLst>
              <a:ext uri="{FF2B5EF4-FFF2-40B4-BE49-F238E27FC236}">
                <a16:creationId xmlns:a16="http://schemas.microsoft.com/office/drawing/2014/main" id="{CC6BF262-39B7-44AE-AD50-07784ABF600F}"/>
              </a:ext>
            </a:extLst>
          </p:cNvPr>
          <p:cNvSpPr>
            <a:spLocks noGrp="1"/>
          </p:cNvSpPr>
          <p:nvPr>
            <p:ph type="dt" sz="half" idx="10"/>
          </p:nvPr>
        </p:nvSpPr>
        <p:spPr/>
        <p:txBody>
          <a:bodyPr/>
          <a:lstStyle/>
          <a:p>
            <a:r>
              <a:rPr lang="en-US" dirty="0"/>
              <a:t>Final Review</a:t>
            </a:r>
            <a:endParaRPr lang="en-IN" dirty="0"/>
          </a:p>
        </p:txBody>
      </p:sp>
      <p:sp>
        <p:nvSpPr>
          <p:cNvPr id="5" name="Footer Placeholder 4">
            <a:extLst>
              <a:ext uri="{FF2B5EF4-FFF2-40B4-BE49-F238E27FC236}">
                <a16:creationId xmlns:a16="http://schemas.microsoft.com/office/drawing/2014/main" id="{406900E8-40F4-FD2C-418F-4B63A92D4A7F}"/>
              </a:ext>
            </a:extLst>
          </p:cNvPr>
          <p:cNvSpPr>
            <a:spLocks noGrp="1"/>
          </p:cNvSpPr>
          <p:nvPr>
            <p:ph type="ftr" sz="quarter" idx="11"/>
          </p:nvPr>
        </p:nvSpPr>
        <p:spPr/>
        <p:txBody>
          <a:bodyPr/>
          <a:lstStyle/>
          <a:p>
            <a:r>
              <a:rPr lang="en-US"/>
              <a:t>Department of Computer Science and Engineering</a:t>
            </a:r>
            <a:endParaRPr lang="en-IN"/>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13</a:t>
            </a:fld>
            <a:endParaRPr lang="en-IN"/>
          </a:p>
        </p:txBody>
      </p:sp>
    </p:spTree>
    <p:extLst>
      <p:ext uri="{BB962C8B-B14F-4D97-AF65-F5344CB8AC3E}">
        <p14:creationId xmlns:p14="http://schemas.microsoft.com/office/powerpoint/2010/main" val="765274792"/>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a:extLst>
              <a:ext uri="{FF2B5EF4-FFF2-40B4-BE49-F238E27FC236}">
                <a16:creationId xmlns:a16="http://schemas.microsoft.com/office/drawing/2014/main" id="{778CC27A-14F7-85DD-1D33-35BB88464355}"/>
              </a:ext>
            </a:extLst>
          </p:cNvPr>
          <p:cNvSpPr>
            <a:spLocks noGrp="1"/>
          </p:cNvSpPr>
          <p:nvPr>
            <p:ph type="ftr" sz="quarter" idx="11"/>
          </p:nvPr>
        </p:nvSpPr>
        <p:spPr/>
        <p:txBody>
          <a:bodyPr/>
          <a:lstStyle/>
          <a:p>
            <a:pPr>
              <a:defRPr/>
            </a:pPr>
            <a:r>
              <a:rPr lang="en-US"/>
              <a:t>Department of Computer Science and Engineering</a:t>
            </a:r>
          </a:p>
        </p:txBody>
      </p:sp>
      <p:sp>
        <p:nvSpPr>
          <p:cNvPr id="4" name="Slide Number Placeholder 3">
            <a:extLst>
              <a:ext uri="{FF2B5EF4-FFF2-40B4-BE49-F238E27FC236}">
                <a16:creationId xmlns:a16="http://schemas.microsoft.com/office/drawing/2014/main" id="{CF44F5F3-B604-7034-3991-F0917DEC107F}"/>
              </a:ext>
            </a:extLst>
          </p:cNvPr>
          <p:cNvSpPr>
            <a:spLocks noGrp="1"/>
          </p:cNvSpPr>
          <p:nvPr>
            <p:ph type="sldNum" sz="quarter" idx="12"/>
          </p:nvPr>
        </p:nvSpPr>
        <p:spPr/>
        <p:txBody>
          <a:bodyPr/>
          <a:lstStyle/>
          <a:p>
            <a:pPr>
              <a:defRPr/>
            </a:pPr>
            <a:fld id="{F583B680-F650-469F-A231-392F163461F6}" type="slidenum">
              <a:rPr lang="en-US" altLang="en-US" smtClean="0"/>
              <a:pPr>
                <a:defRPr/>
              </a:pPr>
              <a:t>14</a:t>
            </a:fld>
            <a:endParaRPr lang="en-US" altLang="en-US" dirty="0"/>
          </a:p>
        </p:txBody>
      </p:sp>
      <p:sp>
        <p:nvSpPr>
          <p:cNvPr id="5" name="Date Placeholder 4">
            <a:extLst>
              <a:ext uri="{FF2B5EF4-FFF2-40B4-BE49-F238E27FC236}">
                <a16:creationId xmlns:a16="http://schemas.microsoft.com/office/drawing/2014/main" id="{09920C7D-BD2C-F059-5056-8B99F4B27643}"/>
              </a:ext>
            </a:extLst>
          </p:cNvPr>
          <p:cNvSpPr>
            <a:spLocks noGrp="1"/>
          </p:cNvSpPr>
          <p:nvPr>
            <p:ph type="dt" sz="half" idx="10"/>
          </p:nvPr>
        </p:nvSpPr>
        <p:spPr/>
        <p:txBody>
          <a:bodyPr/>
          <a:lstStyle/>
          <a:p>
            <a:pPr>
              <a:defRPr/>
            </a:pPr>
            <a:r>
              <a:rPr lang="en-US" dirty="0"/>
              <a:t>First Review</a:t>
            </a:r>
          </a:p>
        </p:txBody>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328</TotalTime>
  <Words>1024</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Times New Roman</vt:lpstr>
      <vt:lpstr>Verdana</vt:lpstr>
      <vt:lpstr>Wingdings</vt:lpstr>
      <vt:lpstr>Profile</vt:lpstr>
      <vt:lpstr>PowerPoint Presentation</vt:lpstr>
      <vt:lpstr>INTRODUCTION</vt:lpstr>
      <vt:lpstr>PROJECT OVERVIEW &amp; OBJECTIVES/SCOPE</vt:lpstr>
      <vt:lpstr>EXISTING SYSTEM</vt:lpstr>
      <vt:lpstr>PROBLEM STATEMENT </vt:lpstr>
      <vt:lpstr>METHODOLOGY &amp; SYSTEM ARCHITECTURE</vt:lpstr>
      <vt:lpstr>SYSTEM ARCHITECTURE (contd.)</vt:lpstr>
      <vt:lpstr>PowerPoint Presentation</vt:lpstr>
      <vt:lpstr>PowerPoint Presentation</vt:lpstr>
      <vt:lpstr>PowerPoint Presentation</vt:lpstr>
      <vt:lpstr>PowerPoint Presentation</vt:lpstr>
      <vt:lpstr>PowerPoint Presentation</vt:lpstr>
      <vt:lpstr>LITERATURE SURVEY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tharunvasanth2005@outlook.com</cp:lastModifiedBy>
  <cp:revision>22</cp:revision>
  <dcterms:created xsi:type="dcterms:W3CDTF">2023-08-03T04:32:32Z</dcterms:created>
  <dcterms:modified xsi:type="dcterms:W3CDTF">2026-09-08T14:44:58Z</dcterms:modified>
</cp:coreProperties>
</file>